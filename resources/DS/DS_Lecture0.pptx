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8" r:id="rId2"/>
    <p:sldId id="275" r:id="rId3"/>
    <p:sldId id="276" r:id="rId4"/>
    <p:sldId id="274" r:id="rId5"/>
    <p:sldId id="278" r:id="rId6"/>
    <p:sldId id="279" r:id="rId7"/>
    <p:sldId id="280" r:id="rId8"/>
    <p:sldId id="277" r:id="rId9"/>
    <p:sldId id="268" r:id="rId10"/>
    <p:sldId id="269" r:id="rId11"/>
    <p:sldId id="270" r:id="rId12"/>
    <p:sldId id="271" r:id="rId13"/>
    <p:sldId id="265" r:id="rId14"/>
  </p:sldIdLst>
  <p:sldSz cx="18288000" cy="10287000"/>
  <p:notesSz cx="6858000" cy="9144000"/>
  <p:embeddedFontLst>
    <p:embeddedFont>
      <p:font typeface="TAN Pearl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10D"/>
    <a:srgbClr val="5971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7083C3-B778-0BAA-BDFE-2DD57B6692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3193C-E34C-5658-1F9C-F81654431C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976A7-34B1-497E-8687-96554FAF502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3F369-6301-2A4A-3151-844DB6D0E4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F87B1-CD6F-BB34-30FC-0B2F83F965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495DE-0AD7-45B7-AFA8-8A1B6E24A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3119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43CC8-FB7F-413D-AF0A-7C678402EB9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37A2D-4BF6-4890-A56D-F0AA72489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836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829A-5253-45BF-9FD5-A92DFB4A6E9B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51346-4E53-4914-B82B-46322041EBC1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7301E-0058-472F-BC1C-69199927CF31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6A20-D2F9-4F8A-ACBE-FEB82CE62A0C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0D85B-44BB-490F-92EE-36BF5D221E7D}" type="datetime1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0F28A-AA20-4806-A280-CCE18ABABA6E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5E19-1A98-4A80-89F3-74930C939066}" type="datetime1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A8E0B-5458-4E1D-AB95-F3BC0C305089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49B4-E66C-4F46-8F65-9818B498DE4B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4D37-BFD6-4406-952E-349D4D74EB54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0E050-E964-4161-86B9-27427626B6B0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E99DA-986B-43B6-BA3F-C96A2DBFC0CB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962400" y="3467100"/>
            <a:ext cx="10668000" cy="4369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US" sz="6180" b="1" dirty="0">
                <a:solidFill>
                  <a:srgbClr val="477033"/>
                </a:solidFill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Welcome to the Session      </a:t>
            </a:r>
          </a:p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US" sz="6180" b="1" dirty="0">
                <a:solidFill>
                  <a:srgbClr val="477033"/>
                </a:solidFill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Presented By </a:t>
            </a:r>
          </a:p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US" sz="6180" b="1" dirty="0">
                <a:solidFill>
                  <a:srgbClr val="477033"/>
                </a:solidFill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Mr. Nitish Kumar</a:t>
            </a:r>
          </a:p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US" sz="6180" b="1" dirty="0">
                <a:solidFill>
                  <a:srgbClr val="477033"/>
                </a:solidFill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(Assistant Professor)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6E1B5-2AC9-F265-71A0-BD185CEC8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>
            <a:extLst>
              <a:ext uri="{FF2B5EF4-FFF2-40B4-BE49-F238E27FC236}">
                <a16:creationId xmlns:a16="http://schemas.microsoft.com/office/drawing/2014/main" id="{788AA4DC-C9B7-B017-0FC3-EEB64E391BB1}"/>
              </a:ext>
            </a:extLst>
          </p:cNvPr>
          <p:cNvSpPr txBox="1"/>
          <p:nvPr/>
        </p:nvSpPr>
        <p:spPr>
          <a:xfrm>
            <a:off x="4800600" y="564751"/>
            <a:ext cx="9372600" cy="105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US" sz="6180" b="1" dirty="0">
                <a:solidFill>
                  <a:srgbClr val="1A210D"/>
                </a:solidFill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Syllabus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AD032FE-6911-185F-3E68-7FE148CB1C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6942" y="1619592"/>
            <a:ext cx="9829800" cy="853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18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D6270-4716-63F8-8F1B-F850AC33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>
            <a:extLst>
              <a:ext uri="{FF2B5EF4-FFF2-40B4-BE49-F238E27FC236}">
                <a16:creationId xmlns:a16="http://schemas.microsoft.com/office/drawing/2014/main" id="{C9D91859-DCBB-76D2-77FB-2104E33F0D42}"/>
              </a:ext>
            </a:extLst>
          </p:cNvPr>
          <p:cNvSpPr txBox="1"/>
          <p:nvPr/>
        </p:nvSpPr>
        <p:spPr>
          <a:xfrm>
            <a:off x="4800600" y="564751"/>
            <a:ext cx="9372600" cy="105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US" sz="6180" b="1" dirty="0">
                <a:solidFill>
                  <a:srgbClr val="1A210D"/>
                </a:solidFill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Syllabus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E45395-9BD8-EAF7-297F-93FAF1670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790700"/>
            <a:ext cx="10411247" cy="7666761"/>
          </a:xfrm>
        </p:spPr>
      </p:pic>
    </p:spTree>
    <p:extLst>
      <p:ext uri="{BB962C8B-B14F-4D97-AF65-F5344CB8AC3E}">
        <p14:creationId xmlns:p14="http://schemas.microsoft.com/office/powerpoint/2010/main" val="643737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4D199-AAF0-96A2-27E2-44078C27B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45C4103-76FF-FC24-6EA6-3E74DA2C2859}"/>
              </a:ext>
            </a:extLst>
          </p:cNvPr>
          <p:cNvSpPr txBox="1"/>
          <p:nvPr/>
        </p:nvSpPr>
        <p:spPr>
          <a:xfrm>
            <a:off x="1869606" y="2777839"/>
            <a:ext cx="12455994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UNIT I: Basics of Data Structures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What is data, structure, and data 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Types of data structures (linear &amp; non-linear)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Basic operations on data structures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Introduction to algorithms and their efficiency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Arrays and how data is stored in memory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Searching and sorting techniques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Two-dimensional and multi-dimensional arrays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Matrices and sparse matrices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9E1D619-83F7-0323-2496-FC1AA0614955}"/>
              </a:ext>
            </a:extLst>
          </p:cNvPr>
          <p:cNvSpPr txBox="1"/>
          <p:nvPr/>
        </p:nvSpPr>
        <p:spPr>
          <a:xfrm>
            <a:off x="4800600" y="564751"/>
            <a:ext cx="9372600" cy="105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1A210D"/>
                </a:solidFill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178294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48B8C-1F66-9E70-33E7-A6A6B703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3028B82-0896-FF2D-1E99-C4A92E077503}"/>
              </a:ext>
            </a:extLst>
          </p:cNvPr>
          <p:cNvSpPr txBox="1"/>
          <p:nvPr/>
        </p:nvSpPr>
        <p:spPr>
          <a:xfrm>
            <a:off x="1869606" y="2777839"/>
            <a:ext cx="12455994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UNIT II: Linked Lists &amp; Hashing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Limitations of arrays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What is a linked list and why we use it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Types of linked lists: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US" sz="3200" dirty="0"/>
              <a:t>Singly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US" sz="3200" dirty="0"/>
              <a:t>Doubly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US" sz="3200" dirty="0"/>
              <a:t>Circular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Basic operations on linked lists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Applications of linked lists (polynomial addition)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Hashing concepts and hash tables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Collision and collision handling techniques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3C57446-EF29-CB42-A06D-40A106D3F823}"/>
              </a:ext>
            </a:extLst>
          </p:cNvPr>
          <p:cNvSpPr txBox="1"/>
          <p:nvPr/>
        </p:nvSpPr>
        <p:spPr>
          <a:xfrm>
            <a:off x="4800600" y="564751"/>
            <a:ext cx="9372600" cy="105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1A210D"/>
                </a:solidFill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73036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3EB7F0-FFC7-FAA8-7679-97A95519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349AF44-AC72-14B5-29A9-5FCC274D9B16}"/>
              </a:ext>
            </a:extLst>
          </p:cNvPr>
          <p:cNvSpPr txBox="1"/>
          <p:nvPr/>
        </p:nvSpPr>
        <p:spPr>
          <a:xfrm>
            <a:off x="1869606" y="2777839"/>
            <a:ext cx="12455994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UNIT III: Stacks, Queues &amp; Recursion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Stack data structure and its operations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Applications of stacks (expressions &amp; notations)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Recursion and how function calls 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Queue data structure and its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Applications of queues in real life and systems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1F9B3BC-6713-A9B7-19EF-58AECD82246E}"/>
              </a:ext>
            </a:extLst>
          </p:cNvPr>
          <p:cNvSpPr txBox="1"/>
          <p:nvPr/>
        </p:nvSpPr>
        <p:spPr>
          <a:xfrm>
            <a:off x="4800600" y="564751"/>
            <a:ext cx="9372600" cy="105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1A210D"/>
                </a:solidFill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194964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65F9C-8008-2655-8C64-B0C996FF1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9A27FC4-256E-4B6A-A036-7BECEDB304C3}"/>
              </a:ext>
            </a:extLst>
          </p:cNvPr>
          <p:cNvSpPr txBox="1"/>
          <p:nvPr/>
        </p:nvSpPr>
        <p:spPr>
          <a:xfrm>
            <a:off x="1869606" y="2777839"/>
            <a:ext cx="12455994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UNIT IV: Trees &amp;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Tree structure and terminology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Binary trees, binary search trees and AVL trees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Tree traversal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Insertion, deletion, and searching in trees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Graphs and their representations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Graph traversal techniques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BA8099F-4A3A-4272-2E73-C8FEF160E4BD}"/>
              </a:ext>
            </a:extLst>
          </p:cNvPr>
          <p:cNvSpPr txBox="1"/>
          <p:nvPr/>
        </p:nvSpPr>
        <p:spPr>
          <a:xfrm>
            <a:off x="4800600" y="564751"/>
            <a:ext cx="9372600" cy="105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1A210D"/>
                </a:solidFill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124139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DCB1C5-F5EC-AAC2-F9B2-AD98A668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125FE3B-1602-3805-F0AC-D3215D72C72A}"/>
              </a:ext>
            </a:extLst>
          </p:cNvPr>
          <p:cNvSpPr txBox="1"/>
          <p:nvPr/>
        </p:nvSpPr>
        <p:spPr>
          <a:xfrm>
            <a:off x="1869606" y="2777839"/>
            <a:ext cx="12455994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210D"/>
                </a:solidFill>
              </a:rPr>
              <a:t>Data refers to </a:t>
            </a:r>
            <a:r>
              <a:rPr lang="en-US" sz="3200" b="1" dirty="0">
                <a:solidFill>
                  <a:srgbClr val="1A210D"/>
                </a:solidFill>
              </a:rPr>
              <a:t>raw facts and figures</a:t>
            </a:r>
            <a:endParaRPr lang="en-US" sz="3200" dirty="0">
              <a:solidFill>
                <a:srgbClr val="1A210D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210D"/>
                </a:solidFill>
              </a:rPr>
              <a:t>Data has </a:t>
            </a:r>
            <a:r>
              <a:rPr lang="en-US" sz="3200" b="1" dirty="0">
                <a:solidFill>
                  <a:srgbClr val="1A210D"/>
                </a:solidFill>
              </a:rPr>
              <a:t>no meaning</a:t>
            </a:r>
            <a:r>
              <a:rPr lang="en-US" sz="3200" dirty="0">
                <a:solidFill>
                  <a:srgbClr val="1A210D"/>
                </a:solidFill>
              </a:rPr>
              <a:t> when it is not processed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210D"/>
                </a:solidFill>
              </a:rPr>
              <a:t>Data can be numbers, characters, symbols, or values</a:t>
            </a:r>
          </a:p>
          <a:p>
            <a:endParaRPr lang="en-US" sz="3200" dirty="0">
              <a:solidFill>
                <a:srgbClr val="1A210D"/>
              </a:solidFill>
            </a:endParaRPr>
          </a:p>
          <a:p>
            <a:r>
              <a:rPr lang="en-US" sz="3200" b="1" dirty="0">
                <a:solidFill>
                  <a:srgbClr val="1A210D"/>
                </a:solidFill>
              </a:rPr>
              <a:t>Examples of Data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1A210D"/>
                </a:solidFill>
              </a:rPr>
              <a:t>25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1A210D"/>
                </a:solidFill>
              </a:rPr>
              <a:t>A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1A210D"/>
                </a:solidFill>
              </a:rPr>
              <a:t>78.5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1A210D"/>
                </a:solidFill>
              </a:rPr>
              <a:t>Roll Number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1A210D"/>
                </a:solidFill>
              </a:rPr>
              <a:t>Phone Number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C1CD879-AA23-C6D2-69BC-6FBFA9E6F9F0}"/>
              </a:ext>
            </a:extLst>
          </p:cNvPr>
          <p:cNvSpPr txBox="1"/>
          <p:nvPr/>
        </p:nvSpPr>
        <p:spPr>
          <a:xfrm>
            <a:off x="4800600" y="564751"/>
            <a:ext cx="9372600" cy="105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IN" sz="6600" b="1" dirty="0"/>
              <a:t>What is Data?</a:t>
            </a:r>
            <a:endParaRPr lang="en-US" sz="6180" b="1" dirty="0">
              <a:solidFill>
                <a:srgbClr val="477033"/>
              </a:solidFill>
              <a:latin typeface="Times New Roman" panose="02020603050405020304" pitchFamily="18" charset="0"/>
              <a:ea typeface="TAN Pearl"/>
              <a:cs typeface="Times New Roman" panose="02020603050405020304" pitchFamily="18" charset="0"/>
              <a:sym typeface="TAN Pearl"/>
            </a:endParaRPr>
          </a:p>
        </p:txBody>
      </p:sp>
    </p:spTree>
    <p:extLst>
      <p:ext uri="{BB962C8B-B14F-4D97-AF65-F5344CB8AC3E}">
        <p14:creationId xmlns:p14="http://schemas.microsoft.com/office/powerpoint/2010/main" val="409312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3ACFB-16E8-38B0-BE48-A834A0D78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A8E50B6-1FC5-5E66-F768-ECEBB95F22B7}"/>
              </a:ext>
            </a:extLst>
          </p:cNvPr>
          <p:cNvSpPr txBox="1"/>
          <p:nvPr/>
        </p:nvSpPr>
        <p:spPr>
          <a:xfrm>
            <a:off x="1869606" y="2777839"/>
            <a:ext cx="12455994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210D"/>
                </a:solidFill>
              </a:rPr>
              <a:t>Structure means </a:t>
            </a:r>
            <a:r>
              <a:rPr lang="en-US" sz="3200" b="1" dirty="0">
                <a:solidFill>
                  <a:srgbClr val="1A210D"/>
                </a:solidFill>
              </a:rPr>
              <a:t>organizing and arranging things in a systematic way</a:t>
            </a:r>
            <a:endParaRPr lang="en-US" sz="3200" dirty="0">
              <a:solidFill>
                <a:srgbClr val="1A210D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210D"/>
                </a:solidFill>
              </a:rPr>
              <a:t>It helps in managing and accessing items easily</a:t>
            </a:r>
          </a:p>
          <a:p>
            <a:endParaRPr lang="en-US" sz="3200" dirty="0">
              <a:solidFill>
                <a:srgbClr val="1A210D"/>
              </a:solidFill>
            </a:endParaRPr>
          </a:p>
          <a:p>
            <a:r>
              <a:rPr lang="en-US" sz="3200" b="1" dirty="0">
                <a:solidFill>
                  <a:srgbClr val="1A210D"/>
                </a:solidFill>
              </a:rPr>
              <a:t>Examples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1A210D"/>
                </a:solidFill>
              </a:rPr>
              <a:t>Books arranged on shelves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1A210D"/>
                </a:solidFill>
              </a:rPr>
              <a:t>Files stored in folders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1A210D"/>
                </a:solidFill>
              </a:rPr>
              <a:t>Students arranged by roll number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solidFill>
                <a:srgbClr val="1A210D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solidFill>
                <a:srgbClr val="1A210D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solidFill>
                <a:srgbClr val="1A210D"/>
              </a:solidFill>
            </a:endParaRPr>
          </a:p>
          <a:p>
            <a:endParaRPr lang="en-US" sz="3200" dirty="0">
              <a:solidFill>
                <a:srgbClr val="1A210D"/>
              </a:solidFill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1E2EE32-5399-C64C-DFA0-F571AABEA88D}"/>
              </a:ext>
            </a:extLst>
          </p:cNvPr>
          <p:cNvSpPr txBox="1"/>
          <p:nvPr/>
        </p:nvSpPr>
        <p:spPr>
          <a:xfrm>
            <a:off x="4800600" y="564751"/>
            <a:ext cx="9372600" cy="105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IN" sz="6600" b="1" dirty="0"/>
              <a:t>What is Structure?</a:t>
            </a:r>
            <a:endParaRPr lang="en-US" sz="6180" b="1" dirty="0">
              <a:solidFill>
                <a:srgbClr val="477033"/>
              </a:solidFill>
              <a:latin typeface="Times New Roman" panose="02020603050405020304" pitchFamily="18" charset="0"/>
              <a:ea typeface="TAN Pearl"/>
              <a:cs typeface="Times New Roman" panose="02020603050405020304" pitchFamily="18" charset="0"/>
              <a:sym typeface="TAN Pearl"/>
            </a:endParaRPr>
          </a:p>
        </p:txBody>
      </p:sp>
    </p:spTree>
    <p:extLst>
      <p:ext uri="{BB962C8B-B14F-4D97-AF65-F5344CB8AC3E}">
        <p14:creationId xmlns:p14="http://schemas.microsoft.com/office/powerpoint/2010/main" val="81019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AC52A-9761-6449-B3F3-832EC9BB7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41242FE-58EF-3E71-E61D-0230FF6FA314}"/>
              </a:ext>
            </a:extLst>
          </p:cNvPr>
          <p:cNvSpPr txBox="1"/>
          <p:nvPr/>
        </p:nvSpPr>
        <p:spPr>
          <a:xfrm>
            <a:off x="1869606" y="2777839"/>
            <a:ext cx="12455994" cy="861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A210D"/>
                </a:solidFill>
              </a:rPr>
              <a:t>A Data Structure is a way of organizing data so that it can be used efficiently for </a:t>
            </a:r>
            <a:r>
              <a:rPr lang="en-US" sz="3200" b="1" dirty="0">
                <a:solidFill>
                  <a:srgbClr val="1A210D"/>
                </a:solidFill>
              </a:rPr>
              <a:t>processing</a:t>
            </a:r>
            <a:r>
              <a:rPr lang="en-US" sz="3200" dirty="0">
                <a:solidFill>
                  <a:srgbClr val="1A210D"/>
                </a:solidFill>
              </a:rPr>
              <a:t>, </a:t>
            </a:r>
            <a:r>
              <a:rPr lang="en-US" sz="3200" b="1" dirty="0">
                <a:solidFill>
                  <a:srgbClr val="1A210D"/>
                </a:solidFill>
              </a:rPr>
              <a:t>searching</a:t>
            </a:r>
            <a:r>
              <a:rPr lang="en-US" sz="3200" dirty="0">
                <a:solidFill>
                  <a:srgbClr val="1A210D"/>
                </a:solidFill>
              </a:rPr>
              <a:t>, and </a:t>
            </a:r>
            <a:r>
              <a:rPr lang="en-US" sz="3200" b="1" dirty="0">
                <a:solidFill>
                  <a:srgbClr val="1A210D"/>
                </a:solidFill>
              </a:rPr>
              <a:t>updating</a:t>
            </a:r>
            <a:r>
              <a:rPr lang="en-US" sz="3200" dirty="0">
                <a:solidFill>
                  <a:srgbClr val="1A210D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A210D"/>
              </a:solidFill>
            </a:endParaRPr>
          </a:p>
          <a:p>
            <a:pPr algn="ctr"/>
            <a:r>
              <a:rPr lang="en-US" sz="3600" b="1" dirty="0">
                <a:solidFill>
                  <a:srgbClr val="1A210D"/>
                </a:solidFill>
              </a:rPr>
              <a:t>Data + Structure + Operations = Data Structure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A210D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1A210D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1A210D"/>
                </a:solidFill>
              </a:rPr>
              <a:t>Data → </a:t>
            </a:r>
            <a:r>
              <a:rPr lang="en-US" sz="2800" b="1" dirty="0">
                <a:solidFill>
                  <a:srgbClr val="1A210D"/>
                </a:solidFill>
              </a:rPr>
              <a:t>What we store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1A210D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1A210D"/>
                </a:solidFill>
              </a:rPr>
              <a:t>Structure → </a:t>
            </a:r>
            <a:r>
              <a:rPr lang="en-US" sz="2800" b="1" dirty="0">
                <a:solidFill>
                  <a:srgbClr val="1A210D"/>
                </a:solidFill>
              </a:rPr>
              <a:t>How we store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1A210D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1A210D"/>
                </a:solidFill>
              </a:rPr>
              <a:t>Operations → </a:t>
            </a:r>
            <a:r>
              <a:rPr lang="en-US" sz="2800" b="1" dirty="0">
                <a:solidFill>
                  <a:srgbClr val="1A210D"/>
                </a:solidFill>
              </a:rPr>
              <a:t>What we do (search, insert, delete)</a:t>
            </a:r>
          </a:p>
          <a:p>
            <a:endParaRPr lang="en-US" sz="3200" dirty="0">
              <a:solidFill>
                <a:srgbClr val="1A210D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A210D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A210D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A210D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A210D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A210D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A210D"/>
              </a:solidFill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B86DF85-718C-2977-679A-31ADE9C58966}"/>
              </a:ext>
            </a:extLst>
          </p:cNvPr>
          <p:cNvSpPr txBox="1"/>
          <p:nvPr/>
        </p:nvSpPr>
        <p:spPr>
          <a:xfrm>
            <a:off x="4800600" y="564751"/>
            <a:ext cx="9372600" cy="105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IN" sz="6600" b="1" dirty="0"/>
              <a:t>What is Data Structure?</a:t>
            </a:r>
            <a:endParaRPr lang="en-US" sz="6180" b="1" dirty="0">
              <a:solidFill>
                <a:srgbClr val="477033"/>
              </a:solidFill>
              <a:latin typeface="Times New Roman" panose="02020603050405020304" pitchFamily="18" charset="0"/>
              <a:ea typeface="TAN Pearl"/>
              <a:cs typeface="Times New Roman" panose="02020603050405020304" pitchFamily="18" charset="0"/>
              <a:sym typeface="TAN Pearl"/>
            </a:endParaRPr>
          </a:p>
        </p:txBody>
      </p:sp>
    </p:spTree>
    <p:extLst>
      <p:ext uri="{BB962C8B-B14F-4D97-AF65-F5344CB8AC3E}">
        <p14:creationId xmlns:p14="http://schemas.microsoft.com/office/powerpoint/2010/main" val="25340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5C302-5FEE-B0B8-E2FB-801141D7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2DCA1A6-0153-7E04-F210-AA7648706377}"/>
              </a:ext>
            </a:extLst>
          </p:cNvPr>
          <p:cNvSpPr txBox="1"/>
          <p:nvPr/>
        </p:nvSpPr>
        <p:spPr>
          <a:xfrm>
            <a:off x="1869606" y="2777839"/>
            <a:ext cx="12455994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1A210D"/>
                </a:solidFill>
              </a:rPr>
              <a:t>1. Mobile Contact List</a:t>
            </a:r>
          </a:p>
          <a:p>
            <a:endParaRPr lang="en-US" sz="3200" dirty="0">
              <a:solidFill>
                <a:srgbClr val="1A210D"/>
              </a:solidFill>
            </a:endParaRPr>
          </a:p>
          <a:p>
            <a:r>
              <a:rPr lang="en-US" sz="3200" dirty="0">
                <a:solidFill>
                  <a:srgbClr val="1A210D"/>
                </a:solidFill>
              </a:rPr>
              <a:t>Names and phone numbers → </a:t>
            </a:r>
            <a:r>
              <a:rPr lang="en-US" sz="3200" b="1" dirty="0">
                <a:solidFill>
                  <a:srgbClr val="1A210D"/>
                </a:solidFill>
              </a:rPr>
              <a:t>Data</a:t>
            </a:r>
            <a:endParaRPr lang="en-US" sz="3200" dirty="0">
              <a:solidFill>
                <a:srgbClr val="1A210D"/>
              </a:solidFill>
            </a:endParaRPr>
          </a:p>
          <a:p>
            <a:r>
              <a:rPr lang="en-US" sz="3200" dirty="0">
                <a:solidFill>
                  <a:srgbClr val="1A210D"/>
                </a:solidFill>
              </a:rPr>
              <a:t>Saved alphabetically → </a:t>
            </a:r>
            <a:r>
              <a:rPr lang="en-US" sz="3200" b="1" dirty="0">
                <a:solidFill>
                  <a:srgbClr val="1A210D"/>
                </a:solidFill>
              </a:rPr>
              <a:t>Structure</a:t>
            </a:r>
            <a:endParaRPr lang="en-US" sz="3200" dirty="0">
              <a:solidFill>
                <a:srgbClr val="1A210D"/>
              </a:solidFill>
            </a:endParaRPr>
          </a:p>
          <a:p>
            <a:r>
              <a:rPr lang="en-US" sz="3200" dirty="0">
                <a:solidFill>
                  <a:srgbClr val="1A210D"/>
                </a:solidFill>
              </a:rPr>
              <a:t>Searching a name instantly → </a:t>
            </a:r>
            <a:r>
              <a:rPr lang="en-US" sz="3200" b="1" dirty="0">
                <a:solidFill>
                  <a:srgbClr val="1A210D"/>
                </a:solidFill>
              </a:rPr>
              <a:t>Operation</a:t>
            </a:r>
          </a:p>
          <a:p>
            <a:endParaRPr lang="en-US" sz="3200" b="1" dirty="0">
              <a:solidFill>
                <a:srgbClr val="1A210D"/>
              </a:solidFill>
            </a:endParaRPr>
          </a:p>
          <a:p>
            <a:r>
              <a:rPr lang="en-US" sz="3200" b="1" dirty="0">
                <a:solidFill>
                  <a:srgbClr val="1A210D"/>
                </a:solidFill>
              </a:rPr>
              <a:t>2: Library System</a:t>
            </a:r>
          </a:p>
          <a:p>
            <a:endParaRPr lang="en-US" sz="3200" dirty="0">
              <a:solidFill>
                <a:srgbClr val="1A210D"/>
              </a:solidFill>
            </a:endParaRPr>
          </a:p>
          <a:p>
            <a:r>
              <a:rPr lang="en-US" sz="3200" dirty="0">
                <a:solidFill>
                  <a:srgbClr val="1A210D"/>
                </a:solidFill>
              </a:rPr>
              <a:t>Thousands of books → </a:t>
            </a:r>
            <a:r>
              <a:rPr lang="en-US" sz="3200" b="1" dirty="0">
                <a:solidFill>
                  <a:srgbClr val="1A210D"/>
                </a:solidFill>
              </a:rPr>
              <a:t>Data</a:t>
            </a:r>
          </a:p>
          <a:p>
            <a:r>
              <a:rPr lang="en-US" sz="3200" dirty="0">
                <a:solidFill>
                  <a:srgbClr val="1A210D"/>
                </a:solidFill>
              </a:rPr>
              <a:t>Books arranged by subject and code → </a:t>
            </a:r>
            <a:r>
              <a:rPr lang="en-US" sz="3200" b="1" dirty="0">
                <a:solidFill>
                  <a:srgbClr val="1A210D"/>
                </a:solidFill>
              </a:rPr>
              <a:t>Structure</a:t>
            </a:r>
          </a:p>
          <a:p>
            <a:r>
              <a:rPr lang="en-US" sz="3200" dirty="0">
                <a:solidFill>
                  <a:srgbClr val="1A210D"/>
                </a:solidFill>
              </a:rPr>
              <a:t>Finding a book quickly → </a:t>
            </a:r>
            <a:r>
              <a:rPr lang="en-US" sz="3200" b="1" dirty="0">
                <a:solidFill>
                  <a:srgbClr val="1A210D"/>
                </a:solidFill>
              </a:rPr>
              <a:t>Operation</a:t>
            </a:r>
          </a:p>
          <a:p>
            <a:endParaRPr lang="en-US" sz="3200" b="1" dirty="0">
              <a:solidFill>
                <a:srgbClr val="1A210D"/>
              </a:solidFill>
            </a:endParaRPr>
          </a:p>
          <a:p>
            <a:endParaRPr lang="en-US" sz="3200" b="1" dirty="0">
              <a:solidFill>
                <a:srgbClr val="1A210D"/>
              </a:solidFill>
            </a:endParaRPr>
          </a:p>
          <a:p>
            <a:endParaRPr lang="en-US" sz="3200" b="1" dirty="0">
              <a:solidFill>
                <a:srgbClr val="1A210D"/>
              </a:solidFill>
            </a:endParaRPr>
          </a:p>
          <a:p>
            <a:endParaRPr lang="en-US" sz="3200" b="1" dirty="0">
              <a:solidFill>
                <a:srgbClr val="1A210D"/>
              </a:solidFill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6733696-23E6-01EC-22B1-C6DDC83604B0}"/>
              </a:ext>
            </a:extLst>
          </p:cNvPr>
          <p:cNvSpPr txBox="1"/>
          <p:nvPr/>
        </p:nvSpPr>
        <p:spPr>
          <a:xfrm>
            <a:off x="4800600" y="564751"/>
            <a:ext cx="10515600" cy="1035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IN" sz="6600" b="1" dirty="0"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Examples of Data Structure</a:t>
            </a:r>
            <a:endParaRPr lang="en-US" sz="6180" b="1" dirty="0">
              <a:latin typeface="Times New Roman" panose="02020603050405020304" pitchFamily="18" charset="0"/>
              <a:ea typeface="TAN Pearl"/>
              <a:cs typeface="Times New Roman" panose="02020603050405020304" pitchFamily="18" charset="0"/>
              <a:sym typeface="TAN Pearl"/>
            </a:endParaRPr>
          </a:p>
        </p:txBody>
      </p:sp>
    </p:spTree>
    <p:extLst>
      <p:ext uri="{BB962C8B-B14F-4D97-AF65-F5344CB8AC3E}">
        <p14:creationId xmlns:p14="http://schemas.microsoft.com/office/powerpoint/2010/main" val="313613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01396-9597-3052-ADFD-1CECBB648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F5BB27-8A64-2446-6FDA-B9475E8F085A}"/>
              </a:ext>
            </a:extLst>
          </p:cNvPr>
          <p:cNvSpPr txBox="1"/>
          <p:nvPr/>
        </p:nvSpPr>
        <p:spPr>
          <a:xfrm>
            <a:off x="1869606" y="2777839"/>
            <a:ext cx="12455994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Suppose you are given the marks of 1000 students.</a:t>
            </a:r>
            <a:br>
              <a:rPr lang="en-US" sz="3200" b="1" dirty="0"/>
            </a:br>
            <a:r>
              <a:rPr lang="en-US" sz="3200" b="1" dirty="0"/>
              <a:t>Your task is to design a system (DS) such that we can: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Insert new student marks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Update existing student marks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Access any student’s marks easily and quickly</a:t>
            </a:r>
          </a:p>
          <a:p>
            <a:endParaRPr lang="en-US" sz="3200" b="1" dirty="0">
              <a:solidFill>
                <a:srgbClr val="1A210D"/>
              </a:solidFill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DBAFC1B-F5AB-D3E6-AE02-348154B91A5B}"/>
              </a:ext>
            </a:extLst>
          </p:cNvPr>
          <p:cNvSpPr txBox="1"/>
          <p:nvPr/>
        </p:nvSpPr>
        <p:spPr>
          <a:xfrm>
            <a:off x="4800600" y="564751"/>
            <a:ext cx="10515600" cy="1035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3"/>
              </a:lnSpc>
              <a:spcBef>
                <a:spcPct val="0"/>
              </a:spcBef>
            </a:pPr>
            <a:r>
              <a:rPr lang="en-US" sz="6180" b="1" dirty="0"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Class Question</a:t>
            </a:r>
          </a:p>
        </p:txBody>
      </p:sp>
    </p:spTree>
    <p:extLst>
      <p:ext uri="{BB962C8B-B14F-4D97-AF65-F5344CB8AC3E}">
        <p14:creationId xmlns:p14="http://schemas.microsoft.com/office/powerpoint/2010/main" val="17551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64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394042" y="4087638"/>
            <a:ext cx="9499916" cy="1773409"/>
            <a:chOff x="0" y="-171450"/>
            <a:chExt cx="12666554" cy="2364545"/>
          </a:xfrm>
        </p:grpSpPr>
        <p:sp>
          <p:nvSpPr>
            <p:cNvPr id="7" name="TextBox 7"/>
            <p:cNvSpPr txBox="1"/>
            <p:nvPr/>
          </p:nvSpPr>
          <p:spPr>
            <a:xfrm>
              <a:off x="0" y="-171450"/>
              <a:ext cx="5171423" cy="1704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81"/>
                </a:lnSpc>
                <a:spcBef>
                  <a:spcPct val="0"/>
                </a:spcBef>
              </a:pPr>
              <a:r>
                <a:rPr lang="en-US" sz="5986">
                  <a:solidFill>
                    <a:srgbClr val="F7F4ED"/>
                  </a:solidFill>
                  <a:latin typeface="TAN Pearl"/>
                  <a:ea typeface="TAN Pearl"/>
                  <a:cs typeface="TAN Pearl"/>
                  <a:sym typeface="TAN Pearl"/>
                </a:rPr>
                <a:t>see you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9277" y="808870"/>
              <a:ext cx="7857277" cy="13842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381"/>
                </a:lnSpc>
                <a:spcBef>
                  <a:spcPct val="0"/>
                </a:spcBef>
              </a:pPr>
              <a:r>
                <a:rPr lang="en-US" sz="5986" dirty="0">
                  <a:solidFill>
                    <a:srgbClr val="F7F4ED"/>
                  </a:solidFill>
                  <a:latin typeface="TAN Pearl"/>
                  <a:ea typeface="TAN Pearl"/>
                  <a:cs typeface="TAN Pearl"/>
                  <a:sym typeface="TAN Pearl"/>
                </a:rPr>
                <a:t>next session!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438</Words>
  <Application>Microsoft Office PowerPoint</Application>
  <PresentationFormat>Custom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Arial</vt:lpstr>
      <vt:lpstr>Wingdings</vt:lpstr>
      <vt:lpstr>TAN Pearl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Classroom Expectations Presentation in Green and Yellow Minimalist Style </dc:title>
  <cp:lastModifiedBy>Nitish Kumar</cp:lastModifiedBy>
  <cp:revision>55</cp:revision>
  <dcterms:created xsi:type="dcterms:W3CDTF">2006-08-16T00:00:00Z</dcterms:created>
  <dcterms:modified xsi:type="dcterms:W3CDTF">2026-01-09T09:54:07Z</dcterms:modified>
  <dc:identifier>DAG95Hg-vNY</dc:identifier>
</cp:coreProperties>
</file>