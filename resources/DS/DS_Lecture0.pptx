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258" r:id="rId2"/>
    <p:sldId id="281" r:id="rId3"/>
    <p:sldId id="275" r:id="rId4"/>
    <p:sldId id="276" r:id="rId5"/>
    <p:sldId id="274" r:id="rId6"/>
    <p:sldId id="278" r:id="rId7"/>
    <p:sldId id="279" r:id="rId8"/>
    <p:sldId id="280" r:id="rId9"/>
    <p:sldId id="277" r:id="rId10"/>
    <p:sldId id="268" r:id="rId11"/>
    <p:sldId id="269" r:id="rId12"/>
    <p:sldId id="270" r:id="rId13"/>
    <p:sldId id="271" r:id="rId14"/>
    <p:sldId id="265" r:id="rId15"/>
  </p:sldIdLst>
  <p:sldSz cx="18288000" cy="10287000"/>
  <p:notesSz cx="6858000" cy="9144000"/>
  <p:embeddedFontLst>
    <p:embeddedFont>
      <p:font typeface="TAN Pearl" panose="020B0604020202020204" charset="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210D"/>
    <a:srgbClr val="5971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1" d="100"/>
          <a:sy n="41" d="100"/>
        </p:scale>
        <p:origin x="820" y="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47083C3-B778-0BAA-BDFE-2DD57B66920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A3193C-E34C-5658-1F9C-F81654431CC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6976A7-34B1-497E-8687-96554FAF502C}" type="datetimeFigureOut">
              <a:rPr lang="en-IN" smtClean="0"/>
              <a:t>11-01-2026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203F369-6301-2A4A-3151-844DB6D0E4C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AF87B1-CD6F-BB34-30FC-0B2F83F9656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0495DE-0AD7-45B7-AFA8-8A1B6E24AE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753119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43CC8-FB7F-413D-AF0A-7C678402EB95}" type="datetimeFigureOut">
              <a:rPr lang="en-IN" smtClean="0"/>
              <a:t>11-01-2026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437A2D-4BF6-4890-A56D-F0AA72489F2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578368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B1829A-5253-45BF-9FD5-A92DFB4A6E9B}" type="datetime1">
              <a:rPr lang="en-US" smtClean="0"/>
              <a:t>1/11/2026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51346-4E53-4914-B82B-46322041EBC1}" type="datetime1">
              <a:rPr lang="en-US" smtClean="0"/>
              <a:t>1/11/2026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17301E-0058-472F-BC1C-69199927CF31}" type="datetime1">
              <a:rPr lang="en-US" smtClean="0"/>
              <a:t>1/11/2026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76A20-D2F9-4F8A-ACBE-FEB82CE62A0C}" type="datetime1">
              <a:rPr lang="en-US" smtClean="0"/>
              <a:t>1/11/2026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40D85B-44BB-490F-92EE-36BF5D221E7D}" type="datetime1">
              <a:rPr lang="en-US" smtClean="0"/>
              <a:t>1/11/2026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A0F28A-AA20-4806-A280-CCE18ABABA6E}" type="datetime1">
              <a:rPr lang="en-US" smtClean="0"/>
              <a:t>1/11/2026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475E19-1A98-4A80-89F3-74930C939066}" type="datetime1">
              <a:rPr lang="en-US" smtClean="0"/>
              <a:t>1/11/2026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DA8E0B-5458-4E1D-AB95-F3BC0C305089}" type="datetime1">
              <a:rPr lang="en-US" smtClean="0"/>
              <a:t>1/11/2026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4349B4-E66C-4F46-8F65-9818B498DE4B}" type="datetime1">
              <a:rPr lang="en-US" smtClean="0"/>
              <a:t>1/11/2026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5E4D37-BFD6-4406-952E-349D4D74EB54}" type="datetime1">
              <a:rPr lang="en-US" smtClean="0"/>
              <a:t>1/11/2026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B0E050-E964-4161-86B9-27427626B6B0}" type="datetime1">
              <a:rPr lang="en-US" smtClean="0"/>
              <a:t>1/11/2026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2E99DA-986B-43B6-BA3F-C96A2DBFC0CB}" type="datetime1">
              <a:rPr lang="en-US" smtClean="0"/>
              <a:t>1/11/2026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hyperlink" Target="https://www.linkedin.com/in/nitishdiatiitb" TargetMode="External"/><Relationship Id="rId1" Type="http://schemas.openxmlformats.org/officeDocument/2006/relationships/slideLayout" Target="../slideLayouts/slideLayout6.xml"/><Relationship Id="rId4" Type="http://schemas.openxmlformats.org/officeDocument/2006/relationships/hyperlink" Target="mailto:nitish.ai2113@gmail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4"/>
          <p:cNvSpPr txBox="1"/>
          <p:nvPr/>
        </p:nvSpPr>
        <p:spPr>
          <a:xfrm>
            <a:off x="3962400" y="3467100"/>
            <a:ext cx="10668000" cy="436959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3"/>
              </a:lnSpc>
              <a:spcBef>
                <a:spcPct val="0"/>
              </a:spcBef>
            </a:pPr>
            <a:r>
              <a:rPr lang="en-US" sz="6180" b="1" dirty="0">
                <a:solidFill>
                  <a:srgbClr val="477033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Welcome to the Session      </a:t>
            </a:r>
          </a:p>
          <a:p>
            <a:pPr algn="ctr">
              <a:lnSpc>
                <a:spcPts val="8653"/>
              </a:lnSpc>
              <a:spcBef>
                <a:spcPct val="0"/>
              </a:spcBef>
            </a:pPr>
            <a:r>
              <a:rPr lang="en-US" sz="6180" b="1" dirty="0">
                <a:solidFill>
                  <a:srgbClr val="477033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Presented By </a:t>
            </a:r>
          </a:p>
          <a:p>
            <a:pPr algn="ctr">
              <a:lnSpc>
                <a:spcPts val="8653"/>
              </a:lnSpc>
              <a:spcBef>
                <a:spcPct val="0"/>
              </a:spcBef>
            </a:pPr>
            <a:r>
              <a:rPr lang="en-US" sz="6180" b="1" dirty="0">
                <a:solidFill>
                  <a:srgbClr val="477033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Mr. Nitish Kumar</a:t>
            </a:r>
          </a:p>
          <a:p>
            <a:pPr algn="ctr">
              <a:lnSpc>
                <a:spcPts val="8653"/>
              </a:lnSpc>
              <a:spcBef>
                <a:spcPct val="0"/>
              </a:spcBef>
            </a:pPr>
            <a:r>
              <a:rPr lang="en-US" sz="6180" b="1" dirty="0">
                <a:solidFill>
                  <a:srgbClr val="477033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(Assistant Professor)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2DE074-6D65-F2D0-96F1-7A723681A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4">
            <a:extLst>
              <a:ext uri="{FF2B5EF4-FFF2-40B4-BE49-F238E27FC236}">
                <a16:creationId xmlns:a16="http://schemas.microsoft.com/office/drawing/2014/main" id="{B21366E1-7F20-27F4-BF81-7A74BBEF2945}"/>
              </a:ext>
            </a:extLst>
          </p:cNvPr>
          <p:cNvSpPr txBox="1"/>
          <p:nvPr/>
        </p:nvSpPr>
        <p:spPr>
          <a:xfrm>
            <a:off x="1066800" y="952500"/>
            <a:ext cx="15011400" cy="10225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3"/>
              </a:lnSpc>
              <a:spcBef>
                <a:spcPct val="0"/>
              </a:spcBef>
            </a:pPr>
            <a:r>
              <a:rPr lang="en-US" sz="6180" b="1" dirty="0">
                <a:solidFill>
                  <a:srgbClr val="1A210D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About 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D561E0-4AF8-837B-045E-5D9ADB76B3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324100"/>
            <a:ext cx="17526000" cy="7696200"/>
          </a:xfrm>
        </p:spPr>
        <p:txBody>
          <a:bodyPr>
            <a:noAutofit/>
          </a:bodyPr>
          <a:lstStyle/>
          <a:p>
            <a:pPr algn="just">
              <a:lnSpc>
                <a:spcPts val="8653"/>
              </a:lnSpc>
              <a:spcBef>
                <a:spcPct val="0"/>
              </a:spcBef>
            </a:pPr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BTECH</a:t>
            </a:r>
            <a:r>
              <a:rPr lang="en-US" sz="2400" b="1" dirty="0">
                <a:solidFill>
                  <a:srgbClr val="1A210D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 in </a:t>
            </a:r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CSE</a:t>
            </a:r>
            <a:r>
              <a:rPr lang="en-US" sz="2400" b="1" dirty="0">
                <a:solidFill>
                  <a:srgbClr val="1A210D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 from J. C. Bose University of Science and Technology</a:t>
            </a:r>
          </a:p>
          <a:p>
            <a:pPr algn="just">
              <a:lnSpc>
                <a:spcPts val="8653"/>
              </a:lnSpc>
              <a:spcBef>
                <a:spcPct val="0"/>
              </a:spcBef>
            </a:pPr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GATE</a:t>
            </a:r>
            <a:r>
              <a:rPr lang="en-US" sz="2400" b="1" dirty="0">
                <a:solidFill>
                  <a:srgbClr val="1A210D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 2024 Qualified</a:t>
            </a:r>
          </a:p>
          <a:p>
            <a:pPr algn="just">
              <a:lnSpc>
                <a:spcPts val="8653"/>
              </a:lnSpc>
              <a:spcBef>
                <a:spcPct val="0"/>
              </a:spcBef>
            </a:pPr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MTECH</a:t>
            </a:r>
            <a:r>
              <a:rPr lang="en-US" sz="2400" b="1" dirty="0">
                <a:solidFill>
                  <a:srgbClr val="1A210D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 in </a:t>
            </a:r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Artificial Intelligence </a:t>
            </a:r>
            <a:r>
              <a:rPr lang="en-US" sz="2400" b="1" dirty="0">
                <a:solidFill>
                  <a:srgbClr val="1A210D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from </a:t>
            </a:r>
            <a:r>
              <a:rPr lang="en-US" sz="2400" b="1" dirty="0" err="1">
                <a:solidFill>
                  <a:srgbClr val="1A210D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Defence</a:t>
            </a:r>
            <a:r>
              <a:rPr lang="en-US" sz="2400" b="1" dirty="0">
                <a:solidFill>
                  <a:srgbClr val="1A210D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 Institute of Advanced Technology (</a:t>
            </a:r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DIAT-DRDO</a:t>
            </a:r>
            <a:r>
              <a:rPr lang="en-US" sz="2400" b="1" dirty="0">
                <a:solidFill>
                  <a:srgbClr val="1A210D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) Pune.</a:t>
            </a:r>
          </a:p>
          <a:p>
            <a:pPr algn="just">
              <a:lnSpc>
                <a:spcPts val="8653"/>
              </a:lnSpc>
              <a:spcBef>
                <a:spcPct val="0"/>
              </a:spcBef>
            </a:pPr>
            <a:r>
              <a:rPr lang="en-US" sz="2400" b="1" dirty="0">
                <a:solidFill>
                  <a:srgbClr val="1A210D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Worked as a </a:t>
            </a:r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Project Researcher </a:t>
            </a:r>
            <a:r>
              <a:rPr lang="en-US" sz="2400" b="1" dirty="0">
                <a:solidFill>
                  <a:srgbClr val="1A210D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in </a:t>
            </a:r>
            <a:r>
              <a:rPr lang="en-US" sz="2400" b="1" dirty="0" err="1">
                <a:solidFill>
                  <a:srgbClr val="1A210D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Technocraft</a:t>
            </a:r>
            <a:r>
              <a:rPr lang="en-US" sz="2400" b="1" dirty="0">
                <a:solidFill>
                  <a:srgbClr val="1A210D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 Center for Applied Artificial Intelligence (</a:t>
            </a:r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TCA2I</a:t>
            </a:r>
            <a:r>
              <a:rPr lang="en-US" sz="2400" b="1" dirty="0">
                <a:solidFill>
                  <a:srgbClr val="1A210D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) , </a:t>
            </a:r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VAJRA LAB </a:t>
            </a:r>
            <a:r>
              <a:rPr lang="en-US" sz="2400" b="1" dirty="0">
                <a:solidFill>
                  <a:srgbClr val="1A210D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, Indian Institute of Technology (</a:t>
            </a:r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IIT-Bombay</a:t>
            </a:r>
            <a:r>
              <a:rPr lang="en-US" sz="2400" b="1" dirty="0">
                <a:solidFill>
                  <a:srgbClr val="1A210D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)</a:t>
            </a:r>
          </a:p>
          <a:p>
            <a:pPr algn="just">
              <a:lnSpc>
                <a:spcPts val="8653"/>
              </a:lnSpc>
              <a:spcBef>
                <a:spcPct val="0"/>
              </a:spcBef>
            </a:pPr>
            <a:r>
              <a:rPr lang="en-US" sz="2400" b="1" dirty="0">
                <a:solidFill>
                  <a:srgbClr val="1A210D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Published a </a:t>
            </a:r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conference paper </a:t>
            </a:r>
            <a:r>
              <a:rPr lang="en-US" sz="2400" b="1" dirty="0">
                <a:solidFill>
                  <a:srgbClr val="1A210D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(Automation of Natural Language to SQL Query conversion for </a:t>
            </a:r>
            <a:r>
              <a:rPr lang="en-US" sz="2400" b="1" dirty="0" err="1">
                <a:solidFill>
                  <a:srgbClr val="1A210D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OSQuery</a:t>
            </a:r>
            <a:r>
              <a:rPr lang="en-US" sz="2400" b="1" dirty="0">
                <a:solidFill>
                  <a:srgbClr val="1A210D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 to detect the threats) in an international conference </a:t>
            </a:r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COMSNETS 2026 </a:t>
            </a:r>
            <a:r>
              <a:rPr lang="en-US" sz="2400" b="1" dirty="0">
                <a:solidFill>
                  <a:srgbClr val="1A210D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(Bangalore) </a:t>
            </a:r>
          </a:p>
          <a:p>
            <a:pPr marL="0" indent="0" algn="just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4654910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A6E1B5-2AC9-F265-71A0-BD185CEC8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4">
            <a:extLst>
              <a:ext uri="{FF2B5EF4-FFF2-40B4-BE49-F238E27FC236}">
                <a16:creationId xmlns:a16="http://schemas.microsoft.com/office/drawing/2014/main" id="{788AA4DC-C9B7-B017-0FC3-EEB64E391BB1}"/>
              </a:ext>
            </a:extLst>
          </p:cNvPr>
          <p:cNvSpPr txBox="1"/>
          <p:nvPr/>
        </p:nvSpPr>
        <p:spPr>
          <a:xfrm>
            <a:off x="4800600" y="564751"/>
            <a:ext cx="9372600" cy="10548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3"/>
              </a:lnSpc>
              <a:spcBef>
                <a:spcPct val="0"/>
              </a:spcBef>
            </a:pPr>
            <a:r>
              <a:rPr lang="en-US" sz="6180" b="1" dirty="0">
                <a:solidFill>
                  <a:srgbClr val="1A210D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Syllabus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AAD032FE-6911-185F-3E68-7FE148CB1C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36942" y="1619592"/>
            <a:ext cx="9829800" cy="8533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26182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0D6270-4716-63F8-8F1B-F850AC33F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4">
            <a:extLst>
              <a:ext uri="{FF2B5EF4-FFF2-40B4-BE49-F238E27FC236}">
                <a16:creationId xmlns:a16="http://schemas.microsoft.com/office/drawing/2014/main" id="{C9D91859-DCBB-76D2-77FB-2104E33F0D42}"/>
              </a:ext>
            </a:extLst>
          </p:cNvPr>
          <p:cNvSpPr txBox="1"/>
          <p:nvPr/>
        </p:nvSpPr>
        <p:spPr>
          <a:xfrm>
            <a:off x="4800600" y="564751"/>
            <a:ext cx="9372600" cy="10548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3"/>
              </a:lnSpc>
              <a:spcBef>
                <a:spcPct val="0"/>
              </a:spcBef>
            </a:pPr>
            <a:r>
              <a:rPr lang="en-US" sz="6180" b="1" dirty="0">
                <a:solidFill>
                  <a:srgbClr val="1A210D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Syllabus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7E45395-9BD8-EAF7-297F-93FAF16702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7200" y="1790700"/>
            <a:ext cx="10411247" cy="7666761"/>
          </a:xfrm>
        </p:spPr>
      </p:pic>
    </p:spTree>
    <p:extLst>
      <p:ext uri="{BB962C8B-B14F-4D97-AF65-F5344CB8AC3E}">
        <p14:creationId xmlns:p14="http://schemas.microsoft.com/office/powerpoint/2010/main" val="6437374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C4D199-AAF0-96A2-27E2-44078C27B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5C4103-76FF-FC24-6EA6-3E74DA2C2859}"/>
              </a:ext>
            </a:extLst>
          </p:cNvPr>
          <p:cNvSpPr txBox="1"/>
          <p:nvPr/>
        </p:nvSpPr>
        <p:spPr>
          <a:xfrm>
            <a:off x="1869606" y="2777839"/>
            <a:ext cx="12455994" cy="443198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3200" b="1" dirty="0"/>
              <a:t>UNIT I: Basics of Data Structures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What is data, structure, and data structure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Types of data structures (linear &amp; non-linear)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Basic operations on data structures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Introduction to algorithms and their efficiency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Arrays and how data is stored in memory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Searching and sorting techniques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Two-dimensional and multi-dimensional arrays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Matrices and sparse matrices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99E1D619-83F7-0323-2496-FC1AA0614955}"/>
              </a:ext>
            </a:extLst>
          </p:cNvPr>
          <p:cNvSpPr txBox="1"/>
          <p:nvPr/>
        </p:nvSpPr>
        <p:spPr>
          <a:xfrm>
            <a:off x="4800600" y="564751"/>
            <a:ext cx="9372600" cy="10548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3"/>
              </a:lnSpc>
              <a:spcBef>
                <a:spcPct val="0"/>
              </a:spcBef>
            </a:pPr>
            <a:r>
              <a:rPr lang="en-US" sz="6600" b="1" dirty="0">
                <a:solidFill>
                  <a:srgbClr val="1A210D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Syllabus</a:t>
            </a:r>
          </a:p>
        </p:txBody>
      </p:sp>
    </p:spTree>
    <p:extLst>
      <p:ext uri="{BB962C8B-B14F-4D97-AF65-F5344CB8AC3E}">
        <p14:creationId xmlns:p14="http://schemas.microsoft.com/office/powerpoint/2010/main" val="1782942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548B8C-1F66-9E70-33E7-A6A6B7037A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63028B82-0896-FF2D-1E99-C4A92E077503}"/>
              </a:ext>
            </a:extLst>
          </p:cNvPr>
          <p:cNvSpPr txBox="1"/>
          <p:nvPr/>
        </p:nvSpPr>
        <p:spPr>
          <a:xfrm>
            <a:off x="1869606" y="2777839"/>
            <a:ext cx="12455994" cy="54168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3200" b="1" dirty="0"/>
              <a:t>UNIT II: Linked Lists &amp; Hashing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Limitations of arrays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What is a linked list and why we use it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Types of linked lists:</a:t>
            </a:r>
          </a:p>
          <a:p>
            <a:pPr marL="1028700" lvl="1" indent="-571500">
              <a:buFont typeface="+mj-lt"/>
              <a:buAutoNum type="romanUcPeriod"/>
            </a:pPr>
            <a:r>
              <a:rPr lang="en-US" sz="3200" dirty="0"/>
              <a:t>Singly</a:t>
            </a:r>
          </a:p>
          <a:p>
            <a:pPr marL="1028700" lvl="1" indent="-571500">
              <a:buFont typeface="+mj-lt"/>
              <a:buAutoNum type="romanUcPeriod"/>
            </a:pPr>
            <a:r>
              <a:rPr lang="en-US" sz="3200" dirty="0"/>
              <a:t>Doubly</a:t>
            </a:r>
          </a:p>
          <a:p>
            <a:pPr marL="1028700" lvl="1" indent="-571500">
              <a:buFont typeface="+mj-lt"/>
              <a:buAutoNum type="romanUcPeriod"/>
            </a:pPr>
            <a:r>
              <a:rPr lang="en-US" sz="3200" dirty="0"/>
              <a:t>Circular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Basic operations on linked lists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Applications of linked lists (polynomial addition)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Hashing concepts and hash tables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Collision and collision handling techniques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3C57446-EF29-CB42-A06D-40A106D3F823}"/>
              </a:ext>
            </a:extLst>
          </p:cNvPr>
          <p:cNvSpPr txBox="1"/>
          <p:nvPr/>
        </p:nvSpPr>
        <p:spPr>
          <a:xfrm>
            <a:off x="4800600" y="564751"/>
            <a:ext cx="9372600" cy="10548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3"/>
              </a:lnSpc>
              <a:spcBef>
                <a:spcPct val="0"/>
              </a:spcBef>
            </a:pPr>
            <a:r>
              <a:rPr lang="en-US" sz="6600" b="1" dirty="0">
                <a:solidFill>
                  <a:srgbClr val="1A210D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Syllabus</a:t>
            </a:r>
          </a:p>
        </p:txBody>
      </p:sp>
    </p:spTree>
    <p:extLst>
      <p:ext uri="{BB962C8B-B14F-4D97-AF65-F5344CB8AC3E}">
        <p14:creationId xmlns:p14="http://schemas.microsoft.com/office/powerpoint/2010/main" val="730360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3EB7F0-FFC7-FAA8-7679-97A95519B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A349AF44-AC72-14B5-29A9-5FCC274D9B16}"/>
              </a:ext>
            </a:extLst>
          </p:cNvPr>
          <p:cNvSpPr txBox="1"/>
          <p:nvPr/>
        </p:nvSpPr>
        <p:spPr>
          <a:xfrm>
            <a:off x="1869606" y="2777839"/>
            <a:ext cx="12455994" cy="29546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3200" b="1" dirty="0"/>
              <a:t>UNIT III: Stacks, Queues &amp; Recursion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Stack data structure and its operations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Applications of stacks (expressions &amp; notations)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Recursion and how function calls work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Queue data structure and its types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Applications of queues in real life and systems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B1F9B3BC-6713-A9B7-19EF-58AECD82246E}"/>
              </a:ext>
            </a:extLst>
          </p:cNvPr>
          <p:cNvSpPr txBox="1"/>
          <p:nvPr/>
        </p:nvSpPr>
        <p:spPr>
          <a:xfrm>
            <a:off x="4800600" y="564751"/>
            <a:ext cx="9372600" cy="10548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3"/>
              </a:lnSpc>
              <a:spcBef>
                <a:spcPct val="0"/>
              </a:spcBef>
            </a:pPr>
            <a:r>
              <a:rPr lang="en-US" sz="6600" b="1" dirty="0">
                <a:solidFill>
                  <a:srgbClr val="1A210D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Syllabus</a:t>
            </a:r>
          </a:p>
        </p:txBody>
      </p:sp>
    </p:spTree>
    <p:extLst>
      <p:ext uri="{BB962C8B-B14F-4D97-AF65-F5344CB8AC3E}">
        <p14:creationId xmlns:p14="http://schemas.microsoft.com/office/powerpoint/2010/main" val="1949649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C65F9C-8008-2655-8C64-B0C996FF1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9A27FC4-256E-4B6A-A036-7BECEDB304C3}"/>
              </a:ext>
            </a:extLst>
          </p:cNvPr>
          <p:cNvSpPr txBox="1"/>
          <p:nvPr/>
        </p:nvSpPr>
        <p:spPr>
          <a:xfrm>
            <a:off x="1869606" y="2777839"/>
            <a:ext cx="12455994" cy="34470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3200" b="1" dirty="0"/>
              <a:t>UNIT IV: Trees &amp; Graphs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Tree structure and terminology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Binary trees, binary search trees and AVL trees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Tree traversal methods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Insertion, deletion, and searching in trees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Graphs and their representations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Graph traversal techniques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0BA8099F-4A3A-4272-2E73-C8FEF160E4BD}"/>
              </a:ext>
            </a:extLst>
          </p:cNvPr>
          <p:cNvSpPr txBox="1"/>
          <p:nvPr/>
        </p:nvSpPr>
        <p:spPr>
          <a:xfrm>
            <a:off x="4800600" y="564751"/>
            <a:ext cx="9372600" cy="10548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3"/>
              </a:lnSpc>
              <a:spcBef>
                <a:spcPct val="0"/>
              </a:spcBef>
            </a:pPr>
            <a:r>
              <a:rPr lang="en-US" sz="6600" b="1" dirty="0">
                <a:solidFill>
                  <a:srgbClr val="1A210D"/>
                </a:solidFill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Syllabus</a:t>
            </a:r>
          </a:p>
        </p:txBody>
      </p:sp>
    </p:spTree>
    <p:extLst>
      <p:ext uri="{BB962C8B-B14F-4D97-AF65-F5344CB8AC3E}">
        <p14:creationId xmlns:p14="http://schemas.microsoft.com/office/powerpoint/2010/main" val="1241391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DCB1C5-F5EC-AAC2-F9B2-AD98A668C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125FE3B-1602-3805-F0AC-D3215D72C72A}"/>
              </a:ext>
            </a:extLst>
          </p:cNvPr>
          <p:cNvSpPr txBox="1"/>
          <p:nvPr/>
        </p:nvSpPr>
        <p:spPr>
          <a:xfrm>
            <a:off x="1869606" y="2777839"/>
            <a:ext cx="12455994" cy="461664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1A210D"/>
                </a:solidFill>
              </a:rPr>
              <a:t>Data refers to </a:t>
            </a:r>
            <a:r>
              <a:rPr lang="en-US" sz="3200" b="1" dirty="0">
                <a:solidFill>
                  <a:srgbClr val="1A210D"/>
                </a:solidFill>
              </a:rPr>
              <a:t>raw facts and figures</a:t>
            </a:r>
            <a:endParaRPr lang="en-US" sz="3200" dirty="0">
              <a:solidFill>
                <a:srgbClr val="1A210D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1A210D"/>
                </a:solidFill>
              </a:rPr>
              <a:t>Data has </a:t>
            </a:r>
            <a:r>
              <a:rPr lang="en-US" sz="3200" b="1" dirty="0">
                <a:solidFill>
                  <a:srgbClr val="1A210D"/>
                </a:solidFill>
              </a:rPr>
              <a:t>no meaning</a:t>
            </a:r>
            <a:r>
              <a:rPr lang="en-US" sz="3200" dirty="0">
                <a:solidFill>
                  <a:srgbClr val="1A210D"/>
                </a:solidFill>
              </a:rPr>
              <a:t> when it is not processed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1A210D"/>
                </a:solidFill>
              </a:rPr>
              <a:t>Data can be numbers, characters, symbols, or values</a:t>
            </a:r>
          </a:p>
          <a:p>
            <a:endParaRPr lang="en-US" sz="3200" dirty="0">
              <a:solidFill>
                <a:srgbClr val="1A210D"/>
              </a:solidFill>
            </a:endParaRPr>
          </a:p>
          <a:p>
            <a:r>
              <a:rPr lang="en-US" sz="3200" b="1" dirty="0">
                <a:solidFill>
                  <a:srgbClr val="1A210D"/>
                </a:solidFill>
              </a:rPr>
              <a:t>Examples of Data</a:t>
            </a:r>
          </a:p>
          <a:p>
            <a:pPr marL="514350" indent="-514350">
              <a:buFont typeface="Wingdings" panose="05000000000000000000" pitchFamily="2" charset="2"/>
              <a:buChar char="ü"/>
            </a:pPr>
            <a:r>
              <a:rPr lang="en-US" sz="2800" dirty="0">
                <a:solidFill>
                  <a:srgbClr val="1A210D"/>
                </a:solidFill>
              </a:rPr>
              <a:t>25</a:t>
            </a:r>
          </a:p>
          <a:p>
            <a:pPr marL="514350" indent="-514350">
              <a:buFont typeface="Wingdings" panose="05000000000000000000" pitchFamily="2" charset="2"/>
              <a:buChar char="ü"/>
            </a:pPr>
            <a:r>
              <a:rPr lang="en-US" sz="2800" dirty="0">
                <a:solidFill>
                  <a:srgbClr val="1A210D"/>
                </a:solidFill>
              </a:rPr>
              <a:t>A</a:t>
            </a:r>
          </a:p>
          <a:p>
            <a:pPr marL="514350" indent="-514350">
              <a:buFont typeface="Wingdings" panose="05000000000000000000" pitchFamily="2" charset="2"/>
              <a:buChar char="ü"/>
            </a:pPr>
            <a:r>
              <a:rPr lang="en-US" sz="2800" dirty="0">
                <a:solidFill>
                  <a:srgbClr val="1A210D"/>
                </a:solidFill>
              </a:rPr>
              <a:t>78.5</a:t>
            </a:r>
          </a:p>
          <a:p>
            <a:pPr marL="514350" indent="-514350">
              <a:buFont typeface="Wingdings" panose="05000000000000000000" pitchFamily="2" charset="2"/>
              <a:buChar char="ü"/>
            </a:pPr>
            <a:r>
              <a:rPr lang="en-US" sz="2800" dirty="0">
                <a:solidFill>
                  <a:srgbClr val="1A210D"/>
                </a:solidFill>
              </a:rPr>
              <a:t>Roll Number</a:t>
            </a:r>
          </a:p>
          <a:p>
            <a:pPr marL="514350" indent="-514350">
              <a:buFont typeface="Wingdings" panose="05000000000000000000" pitchFamily="2" charset="2"/>
              <a:buChar char="ü"/>
            </a:pPr>
            <a:r>
              <a:rPr lang="en-US" sz="2800" dirty="0">
                <a:solidFill>
                  <a:srgbClr val="1A210D"/>
                </a:solidFill>
              </a:rPr>
              <a:t>Phone Number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8C1CD879-AA23-C6D2-69BC-6FBFA9E6F9F0}"/>
              </a:ext>
            </a:extLst>
          </p:cNvPr>
          <p:cNvSpPr txBox="1"/>
          <p:nvPr/>
        </p:nvSpPr>
        <p:spPr>
          <a:xfrm>
            <a:off x="4800600" y="564751"/>
            <a:ext cx="9372600" cy="10548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3"/>
              </a:lnSpc>
              <a:spcBef>
                <a:spcPct val="0"/>
              </a:spcBef>
            </a:pPr>
            <a:r>
              <a:rPr lang="en-IN" sz="6600" b="1" dirty="0"/>
              <a:t>What is Data?</a:t>
            </a:r>
            <a:endParaRPr lang="en-US" sz="6180" b="1" dirty="0">
              <a:solidFill>
                <a:srgbClr val="477033"/>
              </a:solidFill>
              <a:latin typeface="Times New Roman" panose="02020603050405020304" pitchFamily="18" charset="0"/>
              <a:ea typeface="TAN Pearl"/>
              <a:cs typeface="Times New Roman" panose="02020603050405020304" pitchFamily="18" charset="0"/>
              <a:sym typeface="TAN Pearl"/>
            </a:endParaRPr>
          </a:p>
        </p:txBody>
      </p:sp>
    </p:spTree>
    <p:extLst>
      <p:ext uri="{BB962C8B-B14F-4D97-AF65-F5344CB8AC3E}">
        <p14:creationId xmlns:p14="http://schemas.microsoft.com/office/powerpoint/2010/main" val="4093126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93ACFB-16E8-38B0-BE48-A834A0D78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6A8E50B6-1FC5-5E66-F768-ECEBB95F22B7}"/>
              </a:ext>
            </a:extLst>
          </p:cNvPr>
          <p:cNvSpPr txBox="1"/>
          <p:nvPr/>
        </p:nvSpPr>
        <p:spPr>
          <a:xfrm>
            <a:off x="1869606" y="2777839"/>
            <a:ext cx="12455994" cy="54168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1A210D"/>
                </a:solidFill>
              </a:rPr>
              <a:t>Structure means </a:t>
            </a:r>
            <a:r>
              <a:rPr lang="en-US" sz="3200" b="1" dirty="0">
                <a:solidFill>
                  <a:srgbClr val="1A210D"/>
                </a:solidFill>
              </a:rPr>
              <a:t>organizing and arranging things in a systematic way</a:t>
            </a:r>
            <a:endParaRPr lang="en-US" sz="3200" dirty="0">
              <a:solidFill>
                <a:srgbClr val="1A210D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1A210D"/>
                </a:solidFill>
              </a:rPr>
              <a:t>It helps in managing and accessing items easily</a:t>
            </a:r>
          </a:p>
          <a:p>
            <a:endParaRPr lang="en-US" sz="3200" dirty="0">
              <a:solidFill>
                <a:srgbClr val="1A210D"/>
              </a:solidFill>
            </a:endParaRPr>
          </a:p>
          <a:p>
            <a:r>
              <a:rPr lang="en-US" sz="3200" b="1" dirty="0">
                <a:solidFill>
                  <a:srgbClr val="1A210D"/>
                </a:solidFill>
              </a:rPr>
              <a:t>Examples</a:t>
            </a:r>
          </a:p>
          <a:p>
            <a:pPr marL="457200" indent="-457200">
              <a:buFont typeface="Wingdings" panose="05000000000000000000" pitchFamily="2" charset="2"/>
              <a:buChar char="ü"/>
            </a:pPr>
            <a:r>
              <a:rPr lang="en-US" sz="3200" dirty="0">
                <a:solidFill>
                  <a:srgbClr val="1A210D"/>
                </a:solidFill>
              </a:rPr>
              <a:t>Books arranged on shelves</a:t>
            </a:r>
          </a:p>
          <a:p>
            <a:pPr marL="457200" indent="-457200">
              <a:buFont typeface="Wingdings" panose="05000000000000000000" pitchFamily="2" charset="2"/>
              <a:buChar char="ü"/>
            </a:pPr>
            <a:r>
              <a:rPr lang="en-US" sz="3200" dirty="0">
                <a:solidFill>
                  <a:srgbClr val="1A210D"/>
                </a:solidFill>
              </a:rPr>
              <a:t>Files stored in folders</a:t>
            </a:r>
          </a:p>
          <a:p>
            <a:pPr marL="457200" indent="-457200">
              <a:buFont typeface="Wingdings" panose="05000000000000000000" pitchFamily="2" charset="2"/>
              <a:buChar char="ü"/>
            </a:pPr>
            <a:r>
              <a:rPr lang="en-US" sz="3200" dirty="0">
                <a:solidFill>
                  <a:srgbClr val="1A210D"/>
                </a:solidFill>
              </a:rPr>
              <a:t>Students arranged by roll number</a:t>
            </a:r>
          </a:p>
          <a:p>
            <a:pPr marL="457200" indent="-457200">
              <a:buFont typeface="Wingdings" panose="05000000000000000000" pitchFamily="2" charset="2"/>
              <a:buChar char="ü"/>
            </a:pPr>
            <a:endParaRPr lang="en-US" sz="3200" dirty="0">
              <a:solidFill>
                <a:srgbClr val="1A210D"/>
              </a:solidFill>
            </a:endParaRPr>
          </a:p>
          <a:p>
            <a:pPr marL="457200" indent="-457200">
              <a:buFont typeface="Wingdings" panose="05000000000000000000" pitchFamily="2" charset="2"/>
              <a:buChar char="ü"/>
            </a:pPr>
            <a:endParaRPr lang="en-US" sz="3200" dirty="0">
              <a:solidFill>
                <a:srgbClr val="1A210D"/>
              </a:solidFill>
            </a:endParaRPr>
          </a:p>
          <a:p>
            <a:pPr marL="457200" indent="-457200">
              <a:buFont typeface="Wingdings" panose="05000000000000000000" pitchFamily="2" charset="2"/>
              <a:buChar char="ü"/>
            </a:pPr>
            <a:endParaRPr lang="en-US" sz="3200" dirty="0">
              <a:solidFill>
                <a:srgbClr val="1A210D"/>
              </a:solidFill>
            </a:endParaRPr>
          </a:p>
          <a:p>
            <a:endParaRPr lang="en-US" sz="3200" dirty="0">
              <a:solidFill>
                <a:srgbClr val="1A210D"/>
              </a:solidFill>
            </a:endParaRP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91E2EE32-5399-C64C-DFA0-F571AABEA88D}"/>
              </a:ext>
            </a:extLst>
          </p:cNvPr>
          <p:cNvSpPr txBox="1"/>
          <p:nvPr/>
        </p:nvSpPr>
        <p:spPr>
          <a:xfrm>
            <a:off x="4800600" y="564751"/>
            <a:ext cx="9372600" cy="10548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3"/>
              </a:lnSpc>
              <a:spcBef>
                <a:spcPct val="0"/>
              </a:spcBef>
            </a:pPr>
            <a:r>
              <a:rPr lang="en-IN" sz="6600" b="1" dirty="0"/>
              <a:t>What is Structure?</a:t>
            </a:r>
            <a:endParaRPr lang="en-US" sz="6180" b="1" dirty="0">
              <a:solidFill>
                <a:srgbClr val="477033"/>
              </a:solidFill>
              <a:latin typeface="Times New Roman" panose="02020603050405020304" pitchFamily="18" charset="0"/>
              <a:ea typeface="TAN Pearl"/>
              <a:cs typeface="Times New Roman" panose="02020603050405020304" pitchFamily="18" charset="0"/>
              <a:sym typeface="TAN Pearl"/>
            </a:endParaRPr>
          </a:p>
        </p:txBody>
      </p:sp>
    </p:spTree>
    <p:extLst>
      <p:ext uri="{BB962C8B-B14F-4D97-AF65-F5344CB8AC3E}">
        <p14:creationId xmlns:p14="http://schemas.microsoft.com/office/powerpoint/2010/main" val="8101995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6AC52A-9761-6449-B3F3-832EC9BB7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41242FE-58EF-3E71-E61D-0230FF6FA314}"/>
              </a:ext>
            </a:extLst>
          </p:cNvPr>
          <p:cNvSpPr txBox="1"/>
          <p:nvPr/>
        </p:nvSpPr>
        <p:spPr>
          <a:xfrm>
            <a:off x="1869606" y="2777839"/>
            <a:ext cx="12455994" cy="86177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1A210D"/>
                </a:solidFill>
              </a:rPr>
              <a:t>A Data Structure is a way of organizing data so that it can be used efficiently for </a:t>
            </a:r>
            <a:r>
              <a:rPr lang="en-US" sz="3200" b="1" dirty="0">
                <a:solidFill>
                  <a:srgbClr val="1A210D"/>
                </a:solidFill>
              </a:rPr>
              <a:t>processing</a:t>
            </a:r>
            <a:r>
              <a:rPr lang="en-US" sz="3200" dirty="0">
                <a:solidFill>
                  <a:srgbClr val="1A210D"/>
                </a:solidFill>
              </a:rPr>
              <a:t>, </a:t>
            </a:r>
            <a:r>
              <a:rPr lang="en-US" sz="3200" b="1" dirty="0">
                <a:solidFill>
                  <a:srgbClr val="1A210D"/>
                </a:solidFill>
              </a:rPr>
              <a:t>searching</a:t>
            </a:r>
            <a:r>
              <a:rPr lang="en-US" sz="3200" dirty="0">
                <a:solidFill>
                  <a:srgbClr val="1A210D"/>
                </a:solidFill>
              </a:rPr>
              <a:t>, and </a:t>
            </a:r>
            <a:r>
              <a:rPr lang="en-US" sz="3200" b="1" dirty="0">
                <a:solidFill>
                  <a:srgbClr val="1A210D"/>
                </a:solidFill>
              </a:rPr>
              <a:t>updating</a:t>
            </a:r>
            <a:r>
              <a:rPr lang="en-US" sz="3200" dirty="0">
                <a:solidFill>
                  <a:srgbClr val="1A210D"/>
                </a:solidFill>
              </a:rPr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200" dirty="0">
              <a:solidFill>
                <a:srgbClr val="1A210D"/>
              </a:solidFill>
            </a:endParaRPr>
          </a:p>
          <a:p>
            <a:pPr algn="ctr"/>
            <a:r>
              <a:rPr lang="en-US" sz="3600" b="1" dirty="0">
                <a:solidFill>
                  <a:srgbClr val="1A210D"/>
                </a:solidFill>
              </a:rPr>
              <a:t>Data + Structure + Operations = Data Structure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200" dirty="0">
              <a:solidFill>
                <a:srgbClr val="1A210D"/>
              </a:solidFill>
            </a:endParaRPr>
          </a:p>
          <a:p>
            <a:pPr marL="457200" indent="-457200">
              <a:buFont typeface="Wingdings" panose="05000000000000000000" pitchFamily="2" charset="2"/>
              <a:buChar char="v"/>
            </a:pPr>
            <a:endParaRPr lang="en-US" sz="3200" dirty="0">
              <a:solidFill>
                <a:srgbClr val="1A210D"/>
              </a:solidFill>
            </a:endParaRP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US" sz="2800" dirty="0">
                <a:solidFill>
                  <a:srgbClr val="1A210D"/>
                </a:solidFill>
              </a:rPr>
              <a:t>Data → </a:t>
            </a:r>
            <a:r>
              <a:rPr lang="en-US" sz="2800" b="1" dirty="0">
                <a:solidFill>
                  <a:srgbClr val="1A210D"/>
                </a:solidFill>
              </a:rPr>
              <a:t>What we store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endParaRPr lang="en-US" sz="2800" dirty="0">
              <a:solidFill>
                <a:srgbClr val="1A210D"/>
              </a:solidFill>
            </a:endParaRP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US" sz="2800" dirty="0">
                <a:solidFill>
                  <a:srgbClr val="1A210D"/>
                </a:solidFill>
              </a:rPr>
              <a:t>Structure → </a:t>
            </a:r>
            <a:r>
              <a:rPr lang="en-US" sz="2800" b="1" dirty="0">
                <a:solidFill>
                  <a:srgbClr val="1A210D"/>
                </a:solidFill>
              </a:rPr>
              <a:t>How we store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endParaRPr lang="en-US" sz="2800" dirty="0">
              <a:solidFill>
                <a:srgbClr val="1A210D"/>
              </a:solidFill>
            </a:endParaRP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US" sz="2800" dirty="0">
                <a:solidFill>
                  <a:srgbClr val="1A210D"/>
                </a:solidFill>
              </a:rPr>
              <a:t>Operations → </a:t>
            </a:r>
            <a:r>
              <a:rPr lang="en-US" sz="2800" b="1" dirty="0">
                <a:solidFill>
                  <a:srgbClr val="1A210D"/>
                </a:solidFill>
              </a:rPr>
              <a:t>What we do (search, insert, delete)</a:t>
            </a:r>
          </a:p>
          <a:p>
            <a:endParaRPr lang="en-US" sz="3200" dirty="0">
              <a:solidFill>
                <a:srgbClr val="1A210D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200" dirty="0">
              <a:solidFill>
                <a:srgbClr val="1A210D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200" dirty="0">
              <a:solidFill>
                <a:srgbClr val="1A210D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200" dirty="0">
              <a:solidFill>
                <a:srgbClr val="1A210D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200" dirty="0">
              <a:solidFill>
                <a:srgbClr val="1A210D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200" dirty="0">
              <a:solidFill>
                <a:srgbClr val="1A210D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200" dirty="0">
              <a:solidFill>
                <a:srgbClr val="1A210D"/>
              </a:solidFill>
            </a:endParaRP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B86DF85-718C-2977-679A-31ADE9C58966}"/>
              </a:ext>
            </a:extLst>
          </p:cNvPr>
          <p:cNvSpPr txBox="1"/>
          <p:nvPr/>
        </p:nvSpPr>
        <p:spPr>
          <a:xfrm>
            <a:off x="4800600" y="564751"/>
            <a:ext cx="9372600" cy="10548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3"/>
              </a:lnSpc>
              <a:spcBef>
                <a:spcPct val="0"/>
              </a:spcBef>
            </a:pPr>
            <a:r>
              <a:rPr lang="en-IN" sz="6600" b="1" dirty="0"/>
              <a:t>What is Data Structure?</a:t>
            </a:r>
            <a:endParaRPr lang="en-US" sz="6180" b="1" dirty="0">
              <a:solidFill>
                <a:srgbClr val="477033"/>
              </a:solidFill>
              <a:latin typeface="Times New Roman" panose="02020603050405020304" pitchFamily="18" charset="0"/>
              <a:ea typeface="TAN Pearl"/>
              <a:cs typeface="Times New Roman" panose="02020603050405020304" pitchFamily="18" charset="0"/>
              <a:sym typeface="TAN Pearl"/>
            </a:endParaRPr>
          </a:p>
        </p:txBody>
      </p:sp>
    </p:spTree>
    <p:extLst>
      <p:ext uri="{BB962C8B-B14F-4D97-AF65-F5344CB8AC3E}">
        <p14:creationId xmlns:p14="http://schemas.microsoft.com/office/powerpoint/2010/main" val="253408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C5C302-5FEE-B0B8-E2FB-801141D7F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A2DCA1A6-0153-7E04-F210-AA7648706377}"/>
              </a:ext>
            </a:extLst>
          </p:cNvPr>
          <p:cNvSpPr txBox="1"/>
          <p:nvPr/>
        </p:nvSpPr>
        <p:spPr>
          <a:xfrm>
            <a:off x="1869606" y="2777839"/>
            <a:ext cx="12455994" cy="73866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3200" b="1" dirty="0">
                <a:solidFill>
                  <a:srgbClr val="1A210D"/>
                </a:solidFill>
              </a:rPr>
              <a:t>1. Mobile Contact List</a:t>
            </a:r>
          </a:p>
          <a:p>
            <a:endParaRPr lang="en-US" sz="3200" dirty="0">
              <a:solidFill>
                <a:srgbClr val="1A210D"/>
              </a:solidFill>
            </a:endParaRPr>
          </a:p>
          <a:p>
            <a:r>
              <a:rPr lang="en-US" sz="3200" dirty="0">
                <a:solidFill>
                  <a:srgbClr val="1A210D"/>
                </a:solidFill>
              </a:rPr>
              <a:t>Names and phone numbers → </a:t>
            </a:r>
            <a:r>
              <a:rPr lang="en-US" sz="3200" b="1" dirty="0">
                <a:solidFill>
                  <a:srgbClr val="1A210D"/>
                </a:solidFill>
              </a:rPr>
              <a:t>Data</a:t>
            </a:r>
            <a:endParaRPr lang="en-US" sz="3200" dirty="0">
              <a:solidFill>
                <a:srgbClr val="1A210D"/>
              </a:solidFill>
            </a:endParaRPr>
          </a:p>
          <a:p>
            <a:r>
              <a:rPr lang="en-US" sz="3200" dirty="0">
                <a:solidFill>
                  <a:srgbClr val="1A210D"/>
                </a:solidFill>
              </a:rPr>
              <a:t>Saved alphabetically → </a:t>
            </a:r>
            <a:r>
              <a:rPr lang="en-US" sz="3200" b="1" dirty="0">
                <a:solidFill>
                  <a:srgbClr val="1A210D"/>
                </a:solidFill>
              </a:rPr>
              <a:t>Structure</a:t>
            </a:r>
            <a:endParaRPr lang="en-US" sz="3200" dirty="0">
              <a:solidFill>
                <a:srgbClr val="1A210D"/>
              </a:solidFill>
            </a:endParaRPr>
          </a:p>
          <a:p>
            <a:r>
              <a:rPr lang="en-US" sz="3200" dirty="0">
                <a:solidFill>
                  <a:srgbClr val="1A210D"/>
                </a:solidFill>
              </a:rPr>
              <a:t>Searching a name instantly → </a:t>
            </a:r>
            <a:r>
              <a:rPr lang="en-US" sz="3200" b="1" dirty="0">
                <a:solidFill>
                  <a:srgbClr val="1A210D"/>
                </a:solidFill>
              </a:rPr>
              <a:t>Operation</a:t>
            </a:r>
          </a:p>
          <a:p>
            <a:endParaRPr lang="en-US" sz="3200" b="1" dirty="0">
              <a:solidFill>
                <a:srgbClr val="1A210D"/>
              </a:solidFill>
            </a:endParaRPr>
          </a:p>
          <a:p>
            <a:r>
              <a:rPr lang="en-US" sz="3200" b="1" dirty="0">
                <a:solidFill>
                  <a:srgbClr val="1A210D"/>
                </a:solidFill>
              </a:rPr>
              <a:t>2: Library System</a:t>
            </a:r>
          </a:p>
          <a:p>
            <a:endParaRPr lang="en-US" sz="3200" dirty="0">
              <a:solidFill>
                <a:srgbClr val="1A210D"/>
              </a:solidFill>
            </a:endParaRPr>
          </a:p>
          <a:p>
            <a:r>
              <a:rPr lang="en-US" sz="3200" dirty="0">
                <a:solidFill>
                  <a:srgbClr val="1A210D"/>
                </a:solidFill>
              </a:rPr>
              <a:t>Thousands of books → </a:t>
            </a:r>
            <a:r>
              <a:rPr lang="en-US" sz="3200" b="1" dirty="0">
                <a:solidFill>
                  <a:srgbClr val="1A210D"/>
                </a:solidFill>
              </a:rPr>
              <a:t>Data</a:t>
            </a:r>
          </a:p>
          <a:p>
            <a:r>
              <a:rPr lang="en-US" sz="3200" dirty="0">
                <a:solidFill>
                  <a:srgbClr val="1A210D"/>
                </a:solidFill>
              </a:rPr>
              <a:t>Books arranged by subject and code → </a:t>
            </a:r>
            <a:r>
              <a:rPr lang="en-US" sz="3200" b="1" dirty="0">
                <a:solidFill>
                  <a:srgbClr val="1A210D"/>
                </a:solidFill>
              </a:rPr>
              <a:t>Structure</a:t>
            </a:r>
          </a:p>
          <a:p>
            <a:r>
              <a:rPr lang="en-US" sz="3200" dirty="0">
                <a:solidFill>
                  <a:srgbClr val="1A210D"/>
                </a:solidFill>
              </a:rPr>
              <a:t>Finding a book quickly → </a:t>
            </a:r>
            <a:r>
              <a:rPr lang="en-US" sz="3200" b="1" dirty="0">
                <a:solidFill>
                  <a:srgbClr val="1A210D"/>
                </a:solidFill>
              </a:rPr>
              <a:t>Operation</a:t>
            </a:r>
          </a:p>
          <a:p>
            <a:endParaRPr lang="en-US" sz="3200" b="1" dirty="0">
              <a:solidFill>
                <a:srgbClr val="1A210D"/>
              </a:solidFill>
            </a:endParaRPr>
          </a:p>
          <a:p>
            <a:endParaRPr lang="en-US" sz="3200" b="1" dirty="0">
              <a:solidFill>
                <a:srgbClr val="1A210D"/>
              </a:solidFill>
            </a:endParaRPr>
          </a:p>
          <a:p>
            <a:endParaRPr lang="en-US" sz="3200" b="1" dirty="0">
              <a:solidFill>
                <a:srgbClr val="1A210D"/>
              </a:solidFill>
            </a:endParaRPr>
          </a:p>
          <a:p>
            <a:endParaRPr lang="en-US" sz="3200" b="1" dirty="0">
              <a:solidFill>
                <a:srgbClr val="1A210D"/>
              </a:solidFill>
            </a:endParaRP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26733696-23E6-01EC-22B1-C6DDC83604B0}"/>
              </a:ext>
            </a:extLst>
          </p:cNvPr>
          <p:cNvSpPr txBox="1"/>
          <p:nvPr/>
        </p:nvSpPr>
        <p:spPr>
          <a:xfrm>
            <a:off x="4800600" y="564751"/>
            <a:ext cx="10515600" cy="10351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3"/>
              </a:lnSpc>
              <a:spcBef>
                <a:spcPct val="0"/>
              </a:spcBef>
            </a:pPr>
            <a:r>
              <a:rPr lang="en-IN" sz="6600" b="1" dirty="0"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Examples of Data Structure</a:t>
            </a:r>
            <a:endParaRPr lang="en-US" sz="6180" b="1" dirty="0">
              <a:latin typeface="Times New Roman" panose="02020603050405020304" pitchFamily="18" charset="0"/>
              <a:ea typeface="TAN Pearl"/>
              <a:cs typeface="Times New Roman" panose="02020603050405020304" pitchFamily="18" charset="0"/>
              <a:sym typeface="TAN Pearl"/>
            </a:endParaRPr>
          </a:p>
        </p:txBody>
      </p:sp>
    </p:spTree>
    <p:extLst>
      <p:ext uri="{BB962C8B-B14F-4D97-AF65-F5344CB8AC3E}">
        <p14:creationId xmlns:p14="http://schemas.microsoft.com/office/powerpoint/2010/main" val="3136138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401396-9597-3052-ADFD-1CECBB648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0F5BB27-8A64-2446-6FDA-B9475E8F085A}"/>
              </a:ext>
            </a:extLst>
          </p:cNvPr>
          <p:cNvSpPr txBox="1"/>
          <p:nvPr/>
        </p:nvSpPr>
        <p:spPr>
          <a:xfrm>
            <a:off x="1869606" y="2777839"/>
            <a:ext cx="12455994" cy="34470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3200" b="1" dirty="0"/>
              <a:t>Suppose you are given the marks of 1000 students.</a:t>
            </a:r>
            <a:br>
              <a:rPr lang="en-US" sz="3200" b="1" dirty="0"/>
            </a:br>
            <a:r>
              <a:rPr lang="en-US" sz="3200" b="1" dirty="0"/>
              <a:t>Your task is to design a system (DS) such that we can:</a:t>
            </a:r>
          </a:p>
          <a:p>
            <a:endParaRPr lang="en-US" sz="32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/>
              <a:t>Insert new student marks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/>
              <a:t>Update existing student marks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/>
              <a:t>Access any student’s marks easily and quickly</a:t>
            </a:r>
          </a:p>
          <a:p>
            <a:endParaRPr lang="en-US" sz="3200" b="1" dirty="0">
              <a:solidFill>
                <a:srgbClr val="1A210D"/>
              </a:solidFill>
            </a:endParaRP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4DBAFC1B-F5AB-D3E6-AE02-348154B91A5B}"/>
              </a:ext>
            </a:extLst>
          </p:cNvPr>
          <p:cNvSpPr txBox="1"/>
          <p:nvPr/>
        </p:nvSpPr>
        <p:spPr>
          <a:xfrm>
            <a:off x="4800600" y="564751"/>
            <a:ext cx="10515600" cy="10351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3"/>
              </a:lnSpc>
              <a:spcBef>
                <a:spcPct val="0"/>
              </a:spcBef>
            </a:pPr>
            <a:r>
              <a:rPr lang="en-US" sz="6180" b="1" dirty="0">
                <a:latin typeface="Times New Roman" panose="02020603050405020304" pitchFamily="18" charset="0"/>
                <a:ea typeface="TAN Pearl"/>
                <a:cs typeface="Times New Roman" panose="02020603050405020304" pitchFamily="18" charset="0"/>
                <a:sym typeface="TAN Pearl"/>
              </a:rPr>
              <a:t>Class Question</a:t>
            </a:r>
          </a:p>
        </p:txBody>
      </p:sp>
    </p:spTree>
    <p:extLst>
      <p:ext uri="{BB962C8B-B14F-4D97-AF65-F5344CB8AC3E}">
        <p14:creationId xmlns:p14="http://schemas.microsoft.com/office/powerpoint/2010/main" val="175514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C64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6"/>
          <p:cNvGrpSpPr/>
          <p:nvPr/>
        </p:nvGrpSpPr>
        <p:grpSpPr>
          <a:xfrm>
            <a:off x="4394042" y="4087638"/>
            <a:ext cx="9499916" cy="1773409"/>
            <a:chOff x="0" y="-171450"/>
            <a:chExt cx="12666554" cy="2364545"/>
          </a:xfrm>
        </p:grpSpPr>
        <p:sp>
          <p:nvSpPr>
            <p:cNvPr id="7" name="TextBox 7"/>
            <p:cNvSpPr txBox="1"/>
            <p:nvPr/>
          </p:nvSpPr>
          <p:spPr>
            <a:xfrm>
              <a:off x="0" y="-171450"/>
              <a:ext cx="5171423" cy="170414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381"/>
                </a:lnSpc>
                <a:spcBef>
                  <a:spcPct val="0"/>
                </a:spcBef>
              </a:pPr>
              <a:r>
                <a:rPr lang="en-US" sz="5986" dirty="0">
                  <a:solidFill>
                    <a:srgbClr val="F7F4ED"/>
                  </a:solidFill>
                  <a:latin typeface="TAN Pearl"/>
                  <a:ea typeface="TAN Pearl"/>
                  <a:cs typeface="TAN Pearl"/>
                  <a:sym typeface="TAN Pearl"/>
                </a:rPr>
                <a:t>see you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809277" y="808870"/>
              <a:ext cx="7857277" cy="1384225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8381"/>
                </a:lnSpc>
                <a:spcBef>
                  <a:spcPct val="0"/>
                </a:spcBef>
              </a:pPr>
              <a:r>
                <a:rPr lang="en-US" sz="5986" dirty="0">
                  <a:solidFill>
                    <a:srgbClr val="F7F4ED"/>
                  </a:solidFill>
                  <a:latin typeface="TAN Pearl"/>
                  <a:ea typeface="TAN Pearl"/>
                  <a:cs typeface="TAN Pearl"/>
                  <a:sym typeface="TAN Pearl"/>
                </a:rPr>
                <a:t>next session!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22C5391-B8E3-BC4F-C0E2-C1B164DB5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009" y="9098369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IN" sz="3200" dirty="0">
                <a:solidFill>
                  <a:srgbClr val="FFFF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https://www.linkedin.com/in/nitishdiatiitb</a:t>
            </a:r>
            <a:br>
              <a:rPr lang="en-IN" sz="3200" dirty="0">
                <a:solidFill>
                  <a:srgbClr val="FFFF00"/>
                </a:solidFill>
              </a:rPr>
            </a:br>
            <a:r>
              <a:rPr lang="en-IN" sz="3200" dirty="0">
                <a:solidFill>
                  <a:srgbClr val="FFFF00"/>
                </a:solidFill>
              </a:rPr>
              <a:t>https://github.com/pro-Nik/</a:t>
            </a:r>
            <a:br>
              <a:rPr lang="en-IN" sz="3200" dirty="0">
                <a:solidFill>
                  <a:srgbClr val="FFFF00"/>
                </a:solidFill>
              </a:rPr>
            </a:br>
            <a:endParaRPr lang="en-IN" sz="3200" dirty="0">
              <a:solidFill>
                <a:srgbClr val="FFFF00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28341-3141-A8E3-D67D-C9EBB1772C9F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11353800" y="9579382"/>
            <a:ext cx="7772400" cy="6619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3200" dirty="0">
                <a:solidFill>
                  <a:srgbClr val="FFFF00"/>
                </a:solidFill>
              </a:rPr>
              <a:t>https://pro-nik.github.io/TejasLabs/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AC2FD7F-9982-8EB5-3EB3-4567EF3BDE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73000" y="5953529"/>
            <a:ext cx="4003025" cy="362585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096DC4E-A6DE-47F0-DCFB-B323B77E1EBC}"/>
              </a:ext>
            </a:extLst>
          </p:cNvPr>
          <p:cNvSpPr txBox="1"/>
          <p:nvPr/>
        </p:nvSpPr>
        <p:spPr>
          <a:xfrm>
            <a:off x="5012058" y="458212"/>
            <a:ext cx="95624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600" dirty="0">
                <a:solidFill>
                  <a:srgbClr val="FFFF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Gmail : nitish.ai2113@gmail.com</a:t>
            </a:r>
            <a:endParaRPr lang="en-IN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316</TotalTime>
  <Words>567</Words>
  <Application>Microsoft Office PowerPoint</Application>
  <PresentationFormat>Custom</PresentationFormat>
  <Paragraphs>111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Wingdings</vt:lpstr>
      <vt:lpstr>Times New Roman</vt:lpstr>
      <vt:lpstr>TAN Pearl</vt:lpstr>
      <vt:lpstr>Calibri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https://www.linkedin.com/in/nitishdiatiitb https://github.com/pro-Nik/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Classroom Expectations Presentation in Green and Yellow Minimalist Style </dc:title>
  <cp:lastModifiedBy>Nitish Kumar</cp:lastModifiedBy>
  <cp:revision>61</cp:revision>
  <dcterms:created xsi:type="dcterms:W3CDTF">2006-08-16T00:00:00Z</dcterms:created>
  <dcterms:modified xsi:type="dcterms:W3CDTF">2026-01-11T17:47:22Z</dcterms:modified>
  <dc:identifier>DAG95Hg-vNY</dc:identifier>
</cp:coreProperties>
</file>